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6A8077F-D876-4FD2-8D97-C0EC8139406F}">
  <a:tblStyle styleId="{66A8077F-D876-4FD2-8D97-C0EC813940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2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본문_1">
  <p:cSld name="7_본문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>
            <a:extLst>
              <a:ext uri="{FF2B5EF4-FFF2-40B4-BE49-F238E27FC236}">
                <a16:creationId xmlns:a16="http://schemas.microsoft.com/office/drawing/2014/main" id="{46AFC2DD-4644-42CE-9247-222C205D9DB9}"/>
              </a:ext>
            </a:extLst>
          </p:cNvPr>
          <p:cNvSpPr>
            <a:spLocks noGrp="1"/>
          </p:cNvSpPr>
          <p:nvPr/>
        </p:nvSpPr>
        <p:spPr>
          <a:xfrm>
            <a:off x="4328304" y="4876015"/>
            <a:ext cx="487392" cy="20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- </a:t>
            </a:r>
            <a:fld id="{00000000-1234-1234-1234-123412341234}" type="slidenum"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‹#›</a:t>
            </a:fld>
            <a:r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 -</a:t>
            </a:r>
            <a:endParaRPr/>
          </a:p>
        </p:txBody>
      </p:sp>
      <p:pic>
        <p:nvPicPr>
          <p:cNvPr id="20" name="Google Shape;16;p4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4876009"/>
            <a:ext cx="648060" cy="257576"/>
          </a:xfrm>
          <a:prstGeom prst="rect">
            <a:avLst/>
          </a:prstGeom>
          <a:ln>
            <a:noFill/>
          </a:ln>
        </p:spPr>
      </p:pic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271D089B-8486-40D8-B144-0C4575566BDF}"/>
              </a:ext>
            </a:extLst>
          </p:cNvPr>
          <p:cNvSpPr>
            <a:spLocks noGrp="1"/>
          </p:cNvSpPr>
          <p:nvPr/>
        </p:nvSpPr>
        <p:spPr>
          <a:xfrm>
            <a:off x="0" y="8"/>
            <a:ext cx="9144000" cy="411163"/>
          </a:xfrm>
          <a:prstGeom prst="rect">
            <a:avLst/>
          </a:prstGeom>
          <a:solidFill>
            <a:srgbClr val="032F6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_2">
  <p:cSld name="1_본문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>
            <a:extLst>
              <a:ext uri="{FF2B5EF4-FFF2-40B4-BE49-F238E27FC236}">
                <a16:creationId xmlns:a16="http://schemas.microsoft.com/office/drawing/2014/main" id="{1E0EFCC7-84A1-46EB-AE6F-4411246F29DB}"/>
              </a:ext>
            </a:extLst>
          </p:cNvPr>
          <p:cNvSpPr>
            <a:spLocks noGrp="1"/>
          </p:cNvSpPr>
          <p:nvPr/>
        </p:nvSpPr>
        <p:spPr>
          <a:xfrm>
            <a:off x="4328304" y="4876015"/>
            <a:ext cx="487392" cy="20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- </a:t>
            </a:r>
            <a:fld id="{00000000-1234-1234-1234-123412341234}" type="slidenum"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‹#›</a:t>
            </a:fld>
            <a:r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 -</a:t>
            </a:r>
            <a:endParaRPr/>
          </a:p>
        </p:txBody>
      </p:sp>
      <p:pic>
        <p:nvPicPr>
          <p:cNvPr id="22" name="Google Shape;20;p5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4876009"/>
            <a:ext cx="648060" cy="25757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>
            <a:extLst>
              <a:ext uri="{FF2B5EF4-FFF2-40B4-BE49-F238E27FC236}">
                <a16:creationId xmlns:a16="http://schemas.microsoft.com/office/drawing/2014/main" id="{BD5AD7B0-2B97-4A02-AB53-478713AE8BD1}"/>
              </a:ext>
            </a:extLst>
          </p:cNvPr>
          <p:cNvSpPr>
            <a:spLocks noGrp="1"/>
          </p:cNvSpPr>
          <p:nvPr/>
        </p:nvSpPr>
        <p:spPr>
          <a:xfrm>
            <a:off x="4353139" y="4926837"/>
            <a:ext cx="437735" cy="10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000" b="0" i="0" u="non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‹#›</a:t>
            </a:fld>
            <a:endParaRPr sz="1000" b="0" i="0" u="none" cap="none">
              <a:solidFill>
                <a:srgbClr val="3F3F3F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4" name="Google Shape;12;p3"/>
          <p:cNvPicPr>
            <a:picLocks noChangeAspect="1"/>
          </p:cNvPicPr>
          <p:nvPr/>
        </p:nvPicPr>
        <p:blipFill rotWithShape="1">
          <a:blip r:embed="rId4">
            <a:alphaModFix/>
          </a:blip>
          <a:srcRect t="76605"/>
          <a:stretch/>
        </p:blipFill>
        <p:spPr>
          <a:xfrm rot="-5400000">
            <a:off x="4642959" y="4957779"/>
            <a:ext cx="261948" cy="39900"/>
          </a:xfrm>
          <a:prstGeom prst="rect">
            <a:avLst/>
          </a:prstGeom>
          <a:ln>
            <a:noFill/>
          </a:ln>
        </p:spPr>
      </p:pic>
      <p:pic>
        <p:nvPicPr>
          <p:cNvPr id="15" name="Google Shape;13;p3"/>
          <p:cNvPicPr>
            <a:picLocks noChangeAspect="1"/>
          </p:cNvPicPr>
          <p:nvPr/>
        </p:nvPicPr>
        <p:blipFill rotWithShape="1">
          <a:blip r:embed="rId4">
            <a:alphaModFix/>
          </a:blip>
          <a:srcRect t="76605"/>
          <a:stretch/>
        </p:blipFill>
        <p:spPr>
          <a:xfrm rot="5400000" flipH="1">
            <a:off x="4239099" y="4957779"/>
            <a:ext cx="261948" cy="39900"/>
          </a:xfrm>
          <a:prstGeom prst="rect">
            <a:avLst/>
          </a:prstGeom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Google Shape;96;p2"/>
          <p:cNvGraphicFramePr/>
          <p:nvPr/>
        </p:nvGraphicFramePr>
        <p:xfrm>
          <a:off x="240971" y="627533"/>
          <a:ext cx="8713000" cy="4057225"/>
        </p:xfrm>
        <a:graphic>
          <a:graphicData uri="http://schemas.openxmlformats.org/drawingml/2006/table">
            <a:tbl>
              <a:tblPr>
                <a:tableStyleId>{66A8077F-D876-4FD2-8D97-C0EC8139406F}</a:tableStyleId>
              </a:tblPr>
              <a:tblGrid>
                <a:gridCol w="8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31625">
                <a:tc row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  <a:endParaRPr/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9월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gridSpan="4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10월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gridSpan="4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11월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12700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12월</a:t>
                      </a:r>
                    </a:p>
                  </a:txBody>
                  <a:tcPr marL="19050" marR="19050" marT="9525" marB="9525" anchor="ctr">
                    <a:lnL w="12700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6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12700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15W</a:t>
                      </a:r>
                    </a:p>
                  </a:txBody>
                  <a:tcPr marL="19050" marR="19050" marT="9525" marB="9525" anchor="ctr">
                    <a:lnL w="12700" cmpd="sng">
                      <a:solidFill>
                        <a:srgbClr val="BFBFBF"/>
                      </a:solidFill>
                      <a:prstDash val="solid"/>
                    </a:lnL>
                    <a:lnR w="12700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보강</a:t>
                      </a:r>
                    </a:p>
                  </a:txBody>
                  <a:tcPr marL="19050" marR="19050" marT="9525" marB="9525" anchor="ctr">
                    <a:lnL w="12700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05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마일스톤</a:t>
                      </a:r>
                      <a:endParaRPr/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85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성과목표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및 Epic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역할·API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시범 관측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MVP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발표·회고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7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및 아키텍터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범위·역할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PRD·WBS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구조 설계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5W 검토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Git·DVC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명세 보완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중간평가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MVP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배포·검증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공개 판단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점검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발표·제출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5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UI/UX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조사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페르소나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화면·흐름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시제품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입력·오류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 보완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화면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사용성 점검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평가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피드백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개선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시연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30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F/E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정의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F-01~05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React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연결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도착·인원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구현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예측·보류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E2E 작성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E2E 실행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평가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회귀 시험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웹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8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B/E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 확인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명세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FastAPI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연결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캐시·검증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 구현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통합·고정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 준비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Docker 배포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점검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키·접근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문서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152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IF(API)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실응답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결측 확인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조회·추론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 정의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REST 명세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정의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차량·시각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검증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장애·만료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 검증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 문서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인수 확인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162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기타</a:t>
                      </a:r>
                      <a:endParaRPr/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6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시범 관측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6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학습·검증 관측 / 기준 모델 비교 / 10W 예측 절차 고정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6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독립 관측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6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평가·License·회고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5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ABA79EE5-CC57-49B9-B6A7-5C3CCD337FEA}"/>
              </a:ext>
            </a:extLst>
          </p:cNvPr>
          <p:cNvSpPr>
            <a:spLocks noGrp="1"/>
          </p:cNvSpPr>
          <p:nvPr/>
        </p:nvSpPr>
        <p:spPr>
          <a:xfrm>
            <a:off x="251520" y="88983"/>
            <a:ext cx="4320480" cy="252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  <a:defRPr sz="1425">
                <a:latin typeface="Malgun Gothic"/>
                <a:ea typeface="Malgun Gothic"/>
                <a:cs typeface="Malgun Gothic"/>
              </a:defRPr>
            </a:pPr>
            <a:r>
              <a:rPr sz="1425" b="1" i="0" u="non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얼리액세스 한자리 개발 마일스톤</a:t>
            </a:r>
            <a:endParaRPr/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F88BEAB-7853-49F9-A3A5-9CDC42BBD00E}"/>
              </a:ext>
            </a:extLst>
          </p:cNvPr>
          <p:cNvSpPr>
            <a:spLocks noGrp="1"/>
          </p:cNvSpPr>
          <p:nvPr/>
        </p:nvSpPr>
        <p:spPr>
          <a:xfrm>
            <a:off x="6336198" y="51472"/>
            <a:ext cx="2556284" cy="288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650">
                <a:latin typeface="Malgun Gothic"/>
                <a:ea typeface="Malgun Gothic"/>
                <a:cs typeface="Malgun Gothic"/>
              </a:defRPr>
            </a:pPr>
            <a:r>
              <a:rPr sz="1650" b="0" i="0" u="non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제품 구현과 배포</a:t>
            </a:r>
            <a:endParaRPr sz="1700" b="0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F820980-240D-4412-832C-812BBA829387}"/>
              </a:ext>
            </a:extLst>
          </p:cNvPr>
          <p:cNvSpPr>
            <a:spLocks noGrp="1"/>
          </p:cNvSpPr>
          <p:nvPr/>
        </p:nvSpPr>
        <p:spPr>
          <a:xfrm>
            <a:off x="7020272" y="469342"/>
            <a:ext cx="18722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"/>
              <a:buFont typeface="Arial"/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0" i="1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작성일: 2026-09-21</a:t>
            </a: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F16BC81-A5C4-44BA-AB8C-C08650B3B7D1}"/>
              </a:ext>
            </a:extLst>
          </p:cNvPr>
          <p:cNvSpPr>
            <a:spLocks noGrp="1"/>
          </p:cNvSpPr>
          <p:nvPr/>
        </p:nvSpPr>
        <p:spPr>
          <a:xfrm>
            <a:off x="2060696" y="1123950"/>
            <a:ext cx="965702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관측·설계</a:t>
            </a:r>
            <a:endParaRPr sz="1000" b="1" i="0" u="none" cap="none">
              <a:solidFill>
                <a:srgbClr val="26262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BADE2506-827B-43B4-AC64-EDA9E0F48AAE}"/>
              </a:ext>
            </a:extLst>
          </p:cNvPr>
          <p:cNvSpPr>
            <a:spLocks noGrp="1"/>
          </p:cNvSpPr>
          <p:nvPr/>
        </p:nvSpPr>
        <p:spPr>
          <a:xfrm>
            <a:off x="3045447" y="1123950"/>
            <a:ext cx="1458077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시제품·개발</a:t>
            </a:r>
            <a:endParaRPr sz="1000" b="1" i="0" u="none" cap="none">
              <a:solidFill>
                <a:srgbClr val="26262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F1615028-212F-4EA2-9374-80BEAE019538}"/>
              </a:ext>
            </a:extLst>
          </p:cNvPr>
          <p:cNvSpPr>
            <a:spLocks noGrp="1"/>
          </p:cNvSpPr>
          <p:nvPr/>
        </p:nvSpPr>
        <p:spPr>
          <a:xfrm>
            <a:off x="4522575" y="1123950"/>
            <a:ext cx="965702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중간·통합</a:t>
            </a:r>
            <a:endParaRPr sz="1000" b="1" i="0" u="none" cap="none">
              <a:solidFill>
                <a:srgbClr val="26262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4" name="Google Shape;104;p2">
            <a:extLst>
              <a:ext uri="{FF2B5EF4-FFF2-40B4-BE49-F238E27FC236}">
                <a16:creationId xmlns:a16="http://schemas.microsoft.com/office/drawing/2014/main" id="{19C45942-DE4E-4677-9E92-3306C172F3F7}"/>
              </a:ext>
            </a:extLst>
          </p:cNvPr>
          <p:cNvSpPr>
            <a:spLocks noGrp="1"/>
          </p:cNvSpPr>
          <p:nvPr/>
        </p:nvSpPr>
        <p:spPr>
          <a:xfrm>
            <a:off x="5507326" y="1123950"/>
            <a:ext cx="965702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고정·평가</a:t>
            </a:r>
            <a:endParaRPr sz="1000" b="1" i="0" u="none" cap="none">
              <a:solidFill>
                <a:srgbClr val="26262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7FC8275F-2993-4AAF-B8D6-334B30E178B7}"/>
              </a:ext>
            </a:extLst>
          </p:cNvPr>
          <p:cNvSpPr>
            <a:spLocks noGrp="1"/>
          </p:cNvSpPr>
          <p:nvPr/>
        </p:nvSpPr>
        <p:spPr>
          <a:xfrm>
            <a:off x="6492078" y="1123950"/>
            <a:ext cx="965702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배포·검증</a:t>
            </a:r>
            <a:endParaRPr sz="1000" b="1" i="0" u="none" cap="none">
              <a:solidFill>
                <a:srgbClr val="26262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2FB6E80B-3670-477B-88B9-E7175D00422A}"/>
              </a:ext>
            </a:extLst>
          </p:cNvPr>
          <p:cNvSpPr>
            <a:spLocks noGrp="1"/>
          </p:cNvSpPr>
          <p:nvPr/>
        </p:nvSpPr>
        <p:spPr>
          <a:xfrm>
            <a:off x="3059832" y="1676731"/>
            <a:ext cx="1453706" cy="432048"/>
          </a:xfrm>
          <a:prstGeom prst="rect">
            <a:avLst/>
          </a:prstGeom>
          <a:solidFill>
            <a:srgbClr val="E0E7F2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>
            <a:noAutofit/>
          </a:bodyPr>
          <a:lstStyle/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5W 기준 확정</a:t>
            </a:r>
            <a:endParaRPr/>
          </a:p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시제품</a:t>
            </a:r>
            <a:endParaRPr/>
          </a:p>
        </p:txBody>
      </p:sp>
      <p:sp>
        <p:nvSpPr>
          <p:cNvPr id="107" name="Google Shape;107;p2">
            <a:extLst>
              <a:ext uri="{FF2B5EF4-FFF2-40B4-BE49-F238E27FC236}">
                <a16:creationId xmlns:a16="http://schemas.microsoft.com/office/drawing/2014/main" id="{51C39ABF-F4AE-4FB0-8AD5-DBEAA61561C8}"/>
              </a:ext>
            </a:extLst>
          </p:cNvPr>
          <p:cNvSpPr>
            <a:spLocks noGrp="1"/>
          </p:cNvSpPr>
          <p:nvPr/>
        </p:nvSpPr>
        <p:spPr>
          <a:xfrm>
            <a:off x="4538136" y="1678423"/>
            <a:ext cx="959166" cy="432048"/>
          </a:xfrm>
          <a:prstGeom prst="rect">
            <a:avLst/>
          </a:prstGeom>
          <a:solidFill>
            <a:srgbClr val="E0E7F2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>
            <a:noAutofit/>
          </a:bodyPr>
          <a:lstStyle/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8W 중간평가</a:t>
            </a:r>
            <a:endParaRPr/>
          </a:p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9W 기능 통합</a:t>
            </a:r>
            <a:endParaRPr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AE547350-304E-43A1-91CC-BA6DBB8BD15E}"/>
              </a:ext>
            </a:extLst>
          </p:cNvPr>
          <p:cNvSpPr>
            <a:spLocks noGrp="1"/>
          </p:cNvSpPr>
          <p:nvPr/>
        </p:nvSpPr>
        <p:spPr>
          <a:xfrm>
            <a:off x="5521651" y="1687335"/>
            <a:ext cx="959166" cy="432048"/>
          </a:xfrm>
          <a:prstGeom prst="rect">
            <a:avLst/>
          </a:prstGeom>
          <a:solidFill>
            <a:srgbClr val="E0E7F2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>
            <a:noAutofit/>
          </a:bodyPr>
          <a:lstStyle/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10W 모델 고정</a:t>
            </a:r>
            <a:endParaRPr/>
          </a:p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11W 독립 관측</a:t>
            </a:r>
            <a:endParaRPr/>
          </a:p>
        </p:txBody>
      </p:sp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1C1A2C2E-9523-4330-BF8A-909BF436644A}"/>
              </a:ext>
            </a:extLst>
          </p:cNvPr>
          <p:cNvSpPr>
            <a:spLocks noGrp="1"/>
          </p:cNvSpPr>
          <p:nvPr/>
        </p:nvSpPr>
        <p:spPr>
          <a:xfrm>
            <a:off x="6502671" y="1689706"/>
            <a:ext cx="972712" cy="432048"/>
          </a:xfrm>
          <a:prstGeom prst="rect">
            <a:avLst/>
          </a:prstGeom>
          <a:solidFill>
            <a:srgbClr val="E0E7F2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>
            <a:noAutofit/>
          </a:bodyPr>
          <a:lstStyle/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12W 배포</a:t>
            </a:r>
            <a:endParaRPr/>
          </a:p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13W 공개 판단</a:t>
            </a:r>
            <a:endParaRPr/>
          </a:p>
        </p:txBody>
      </p:sp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86E24CD4-7EE7-4CCC-B63C-1C4DDFEFA0DE}"/>
              </a:ext>
            </a:extLst>
          </p:cNvPr>
          <p:cNvSpPr>
            <a:spLocks noGrp="1"/>
          </p:cNvSpPr>
          <p:nvPr/>
        </p:nvSpPr>
        <p:spPr>
          <a:xfrm>
            <a:off x="2066351" y="1671650"/>
            <a:ext cx="959166" cy="432048"/>
          </a:xfrm>
          <a:prstGeom prst="rect">
            <a:avLst/>
          </a:prstGeom>
          <a:solidFill>
            <a:srgbClr val="E0E7F2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>
            <a:noAutofit/>
          </a:bodyPr>
          <a:lstStyle/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PRD·WBS</a:t>
            </a:r>
            <a:endParaRPr/>
          </a:p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관측 명세</a:t>
            </a:r>
            <a:endParaRPr/>
          </a:p>
        </p:txBody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2A21710-C982-400E-A5C0-EB43D5732DAC}"/>
              </a:ext>
            </a:extLst>
          </p:cNvPr>
          <p:cNvSpPr>
            <a:spLocks noGrp="1"/>
          </p:cNvSpPr>
          <p:nvPr/>
        </p:nvSpPr>
        <p:spPr>
          <a:xfrm>
            <a:off x="7476830" y="1123950"/>
            <a:ext cx="965702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개선·제출</a:t>
            </a:r>
            <a:endParaRPr sz="1000" b="1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2" name="Google Shape;112;p2">
            <a:extLst>
              <a:ext uri="{FF2B5EF4-FFF2-40B4-BE49-F238E27FC236}">
                <a16:creationId xmlns:a16="http://schemas.microsoft.com/office/drawing/2014/main" id="{717EC6C4-D567-4DFF-B1AC-2C9444232E49}"/>
              </a:ext>
            </a:extLst>
          </p:cNvPr>
          <p:cNvSpPr>
            <a:spLocks noGrp="1"/>
          </p:cNvSpPr>
          <p:nvPr/>
        </p:nvSpPr>
        <p:spPr>
          <a:xfrm>
            <a:off x="1075944" y="1123950"/>
            <a:ext cx="965702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착수·조사</a:t>
            </a:r>
            <a:endParaRPr sz="1000" b="1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6683D52-9D6E-48A4-82EE-43AEAF9FD0D0}"/>
              </a:ext>
            </a:extLst>
          </p:cNvPr>
          <p:cNvSpPr>
            <a:spLocks noGrp="1"/>
          </p:cNvSpPr>
          <p:nvPr/>
        </p:nvSpPr>
        <p:spPr>
          <a:xfrm>
            <a:off x="6878217" y="1504950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공개 판단</a:t>
            </a:r>
            <a:endParaRPr/>
          </a:p>
        </p:txBody>
      </p:sp>
      <p:sp>
        <p:nvSpPr>
          <p:cNvPr id="114" name="Google Shape;114;p2">
            <a:extLst>
              <a:ext uri="{FF2B5EF4-FFF2-40B4-BE49-F238E27FC236}">
                <a16:creationId xmlns:a16="http://schemas.microsoft.com/office/drawing/2014/main" id="{746263C2-B479-4DFD-AFE5-5FA100911C9F}"/>
              </a:ext>
            </a:extLst>
          </p:cNvPr>
          <p:cNvSpPr>
            <a:spLocks noGrp="1"/>
          </p:cNvSpPr>
          <p:nvPr/>
        </p:nvSpPr>
        <p:spPr>
          <a:xfrm rot="2700000">
            <a:off x="1293557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59A3B856-EA25-4C5F-B46C-0151DF115B58}"/>
              </a:ext>
            </a:extLst>
          </p:cNvPr>
          <p:cNvSpPr>
            <a:spLocks noGrp="1"/>
          </p:cNvSpPr>
          <p:nvPr/>
        </p:nvSpPr>
        <p:spPr>
          <a:xfrm>
            <a:off x="969707" y="1504950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착수</a:t>
            </a:r>
            <a:endParaRPr/>
          </a:p>
        </p:txBody>
      </p:sp>
      <p:sp>
        <p:nvSpPr>
          <p:cNvPr id="116" name="Google Shape;116;p2">
            <a:extLst>
              <a:ext uri="{FF2B5EF4-FFF2-40B4-BE49-F238E27FC236}">
                <a16:creationId xmlns:a16="http://schemas.microsoft.com/office/drawing/2014/main" id="{CF0D809D-0B58-4952-9126-F358ECADA2C6}"/>
              </a:ext>
            </a:extLst>
          </p:cNvPr>
          <p:cNvSpPr>
            <a:spLocks noGrp="1"/>
          </p:cNvSpPr>
          <p:nvPr/>
        </p:nvSpPr>
        <p:spPr>
          <a:xfrm rot="2700000">
            <a:off x="3263060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03929EEB-F143-4F1F-B64F-F4703CE15A29}"/>
              </a:ext>
            </a:extLst>
          </p:cNvPr>
          <p:cNvSpPr>
            <a:spLocks noGrp="1"/>
          </p:cNvSpPr>
          <p:nvPr/>
        </p:nvSpPr>
        <p:spPr>
          <a:xfrm>
            <a:off x="5401089" y="1504950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모델 고정</a:t>
            </a:r>
            <a:endParaRPr sz="900" b="1" i="0" u="none" cap="none">
              <a:solidFill>
                <a:srgbClr val="C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8" name="Google Shape;118;p2">
            <a:extLst>
              <a:ext uri="{FF2B5EF4-FFF2-40B4-BE49-F238E27FC236}">
                <a16:creationId xmlns:a16="http://schemas.microsoft.com/office/drawing/2014/main" id="{349B3B37-7C83-4B3A-8127-83D3B0B8162F}"/>
              </a:ext>
            </a:extLst>
          </p:cNvPr>
          <p:cNvSpPr>
            <a:spLocks noGrp="1"/>
          </p:cNvSpPr>
          <p:nvPr/>
        </p:nvSpPr>
        <p:spPr>
          <a:xfrm rot="2700000">
            <a:off x="4740188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Google Shape;119;p2">
            <a:extLst>
              <a:ext uri="{FF2B5EF4-FFF2-40B4-BE49-F238E27FC236}">
                <a16:creationId xmlns:a16="http://schemas.microsoft.com/office/drawing/2014/main" id="{86A1CB03-021E-441B-9AD0-DAC05DA1FB16}"/>
              </a:ext>
            </a:extLst>
          </p:cNvPr>
          <p:cNvSpPr>
            <a:spLocks noGrp="1"/>
          </p:cNvSpPr>
          <p:nvPr/>
        </p:nvSpPr>
        <p:spPr>
          <a:xfrm>
            <a:off x="2939210" y="1504950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기획 확정</a:t>
            </a:r>
            <a:endParaRPr/>
          </a:p>
        </p:txBody>
      </p:sp>
      <p:sp>
        <p:nvSpPr>
          <p:cNvPr id="120" name="Google Shape;120;p2">
            <a:extLst>
              <a:ext uri="{FF2B5EF4-FFF2-40B4-BE49-F238E27FC236}">
                <a16:creationId xmlns:a16="http://schemas.microsoft.com/office/drawing/2014/main" id="{924AD3E2-7D42-41AD-BFE6-560E80021318}"/>
              </a:ext>
            </a:extLst>
          </p:cNvPr>
          <p:cNvSpPr>
            <a:spLocks noGrp="1"/>
          </p:cNvSpPr>
          <p:nvPr/>
        </p:nvSpPr>
        <p:spPr>
          <a:xfrm rot="2700000">
            <a:off x="5724939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Google Shape;121;p2">
            <a:extLst>
              <a:ext uri="{FF2B5EF4-FFF2-40B4-BE49-F238E27FC236}">
                <a16:creationId xmlns:a16="http://schemas.microsoft.com/office/drawing/2014/main" id="{D3D1852B-57C8-4377-A5FB-5C77572B72EB}"/>
              </a:ext>
            </a:extLst>
          </p:cNvPr>
          <p:cNvSpPr>
            <a:spLocks noGrp="1"/>
          </p:cNvSpPr>
          <p:nvPr/>
        </p:nvSpPr>
        <p:spPr>
          <a:xfrm>
            <a:off x="4416338" y="1504950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중간평가</a:t>
            </a:r>
            <a:endParaRPr/>
          </a:p>
        </p:txBody>
      </p:sp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F61DCF0B-5074-4C07-8A19-004838641040}"/>
              </a:ext>
            </a:extLst>
          </p:cNvPr>
          <p:cNvSpPr>
            <a:spLocks noGrp="1"/>
          </p:cNvSpPr>
          <p:nvPr/>
        </p:nvSpPr>
        <p:spPr>
          <a:xfrm rot="2700000">
            <a:off x="7202067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C9696DB4-3C00-4ABB-8543-88CB444E8032}"/>
              </a:ext>
            </a:extLst>
          </p:cNvPr>
          <p:cNvSpPr>
            <a:spLocks noGrp="1"/>
          </p:cNvSpPr>
          <p:nvPr/>
        </p:nvSpPr>
        <p:spPr>
          <a:xfrm>
            <a:off x="7862968" y="1504950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최종 제출</a:t>
            </a:r>
            <a:endParaRPr/>
          </a:p>
        </p:txBody>
      </p:sp>
      <p:sp>
        <p:nvSpPr>
          <p:cNvPr id="124" name="Google Shape;124;p2">
            <a:extLst>
              <a:ext uri="{FF2B5EF4-FFF2-40B4-BE49-F238E27FC236}">
                <a16:creationId xmlns:a16="http://schemas.microsoft.com/office/drawing/2014/main" id="{33A24315-DEB0-4A81-A543-E08602A94130}"/>
              </a:ext>
            </a:extLst>
          </p:cNvPr>
          <p:cNvSpPr>
            <a:spLocks noGrp="1"/>
          </p:cNvSpPr>
          <p:nvPr/>
        </p:nvSpPr>
        <p:spPr>
          <a:xfrm rot="2700000">
            <a:off x="8186818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1546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Google Shape;96;p2"/>
          <p:cNvGraphicFramePr/>
          <p:nvPr/>
        </p:nvGraphicFramePr>
        <p:xfrm>
          <a:off x="240971" y="627533"/>
          <a:ext cx="8713000" cy="4057225"/>
        </p:xfrm>
        <a:graphic>
          <a:graphicData uri="http://schemas.openxmlformats.org/drawingml/2006/table">
            <a:tbl>
              <a:tblPr>
                <a:tableStyleId>{66A8077F-D876-4FD2-8D97-C0EC8139406F}</a:tableStyleId>
              </a:tblPr>
              <a:tblGrid>
                <a:gridCol w="8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31625">
                <a:tc row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  <a:endParaRPr/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9월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gridSpan="4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10월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gridSpan="4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11월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12700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12월</a:t>
                      </a:r>
                    </a:p>
                  </a:txBody>
                  <a:tcPr marL="19050" marR="19050" marT="9525" marB="9525" anchor="ctr">
                    <a:lnL w="12700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6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12700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15W</a:t>
                      </a:r>
                    </a:p>
                  </a:txBody>
                  <a:tcPr marL="19050" marR="19050" marT="9525" marB="9525" anchor="ctr">
                    <a:lnL w="12700" cmpd="sng">
                      <a:solidFill>
                        <a:srgbClr val="BFBFBF"/>
                      </a:solidFill>
                      <a:prstDash val="solid"/>
                    </a:lnL>
                    <a:lnR w="12700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보강</a:t>
                      </a:r>
                    </a:p>
                  </a:txBody>
                  <a:tcPr marL="19050" marR="19050" marT="9525" marB="9525" anchor="ctr">
                    <a:lnL w="12700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05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마일스톤</a:t>
                      </a:r>
                      <a:endParaRPr/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85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성과목표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및 Epic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수집 목표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편향 점검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평가·License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기여 기록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7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및 아키텍터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수집량·인력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 산정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표본·지표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확정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수집 현황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독립 인력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설정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고정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독립 평가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공개 결정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결과·변경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보고·제출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5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UI/UX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불편·Needs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조사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확률·시각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보류 안내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이해도·입력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 설계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평가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준비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12~13W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학생 10명+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만족도·부담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 반영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30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F/E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 흐름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0명·오입력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E2E 시나리오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테스트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정상·예외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실행·수정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치명 오류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0건 확인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8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B/E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익명 ID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설계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입력·정답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품질 점검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DVC 이력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 관리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버전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저장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기록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분리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보안·자료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정책 점검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152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IF(API)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혼잡·만차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제공 점검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유효시간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정책 확정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상태·결측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명세 보완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조회·차량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일치 확인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만료·장애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보류 검증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 노출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점검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162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기타</a:t>
                      </a:r>
                      <a:endParaRPr/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6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OSS 조사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6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평균·시간대·로지스틱 회귀와 XGBoost 비교 / 보정 검토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6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비노출 관측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6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평가서·기여·License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5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F3084FA4-ED41-4354-A58E-AF6D8C7065BB}"/>
              </a:ext>
            </a:extLst>
          </p:cNvPr>
          <p:cNvSpPr>
            <a:spLocks noGrp="1"/>
          </p:cNvSpPr>
          <p:nvPr/>
        </p:nvSpPr>
        <p:spPr>
          <a:xfrm>
            <a:off x="251520" y="88983"/>
            <a:ext cx="4320480" cy="252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  <a:defRPr sz="1425">
                <a:latin typeface="Malgun Gothic"/>
                <a:ea typeface="Malgun Gothic"/>
                <a:cs typeface="Malgun Gothic"/>
              </a:defRPr>
            </a:pPr>
            <a:r>
              <a:rPr sz="1425" b="1" i="0" u="non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얼리액세스 한자리 검증 마일스톤</a:t>
            </a:r>
            <a:endParaRPr/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0EEC6B84-775D-45EE-8AFF-5AD01B701F3C}"/>
              </a:ext>
            </a:extLst>
          </p:cNvPr>
          <p:cNvSpPr>
            <a:spLocks noGrp="1"/>
          </p:cNvSpPr>
          <p:nvPr/>
        </p:nvSpPr>
        <p:spPr>
          <a:xfrm>
            <a:off x="6336198" y="51472"/>
            <a:ext cx="2556284" cy="288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650">
                <a:latin typeface="Malgun Gothic"/>
                <a:ea typeface="Malgun Gothic"/>
                <a:cs typeface="Malgun Gothic"/>
              </a:defRPr>
            </a:pPr>
            <a:r>
              <a:rPr sz="1650" b="0" i="0" u="non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데이터와 품질 평가</a:t>
            </a:r>
            <a:endParaRPr sz="1700" b="0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F97B152-1E4F-42BE-A533-2B015DF219BC}"/>
              </a:ext>
            </a:extLst>
          </p:cNvPr>
          <p:cNvSpPr>
            <a:spLocks noGrp="1"/>
          </p:cNvSpPr>
          <p:nvPr/>
        </p:nvSpPr>
        <p:spPr>
          <a:xfrm>
            <a:off x="7020272" y="469342"/>
            <a:ext cx="18722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"/>
              <a:buFont typeface="Arial"/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0" i="1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작성일: 2026-09-21</a:t>
            </a: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EC16F29A-FB4F-449E-87E7-FF0D381DB883}"/>
              </a:ext>
            </a:extLst>
          </p:cNvPr>
          <p:cNvSpPr>
            <a:spLocks noGrp="1"/>
          </p:cNvSpPr>
          <p:nvPr/>
        </p:nvSpPr>
        <p:spPr>
          <a:xfrm>
            <a:off x="2060696" y="1123950"/>
            <a:ext cx="965702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관측·설계</a:t>
            </a:r>
            <a:endParaRPr sz="1000" b="1" i="0" u="none" cap="none">
              <a:solidFill>
                <a:srgbClr val="26262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ACF2F263-690F-4305-87A3-C6A20F88E169}"/>
              </a:ext>
            </a:extLst>
          </p:cNvPr>
          <p:cNvSpPr>
            <a:spLocks noGrp="1"/>
          </p:cNvSpPr>
          <p:nvPr/>
        </p:nvSpPr>
        <p:spPr>
          <a:xfrm>
            <a:off x="3045447" y="1123950"/>
            <a:ext cx="1458077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시제품·개발</a:t>
            </a:r>
            <a:endParaRPr sz="1000" b="1" i="0" u="none" cap="none">
              <a:solidFill>
                <a:srgbClr val="26262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98AD4E5C-D4CC-427B-9A05-DC324ECD0747}"/>
              </a:ext>
            </a:extLst>
          </p:cNvPr>
          <p:cNvSpPr>
            <a:spLocks noGrp="1"/>
          </p:cNvSpPr>
          <p:nvPr/>
        </p:nvSpPr>
        <p:spPr>
          <a:xfrm>
            <a:off x="4522575" y="1123950"/>
            <a:ext cx="965702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중간·통합</a:t>
            </a:r>
            <a:endParaRPr sz="1000" b="1" i="0" u="none" cap="none">
              <a:solidFill>
                <a:srgbClr val="26262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4" name="Google Shape;104;p2">
            <a:extLst>
              <a:ext uri="{FF2B5EF4-FFF2-40B4-BE49-F238E27FC236}">
                <a16:creationId xmlns:a16="http://schemas.microsoft.com/office/drawing/2014/main" id="{54A0C57D-FA1A-4823-8B86-270D50C31D75}"/>
              </a:ext>
            </a:extLst>
          </p:cNvPr>
          <p:cNvSpPr>
            <a:spLocks noGrp="1"/>
          </p:cNvSpPr>
          <p:nvPr/>
        </p:nvSpPr>
        <p:spPr>
          <a:xfrm>
            <a:off x="5507326" y="1123950"/>
            <a:ext cx="965702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고정·평가</a:t>
            </a:r>
            <a:endParaRPr sz="1000" b="1" i="0" u="none" cap="none">
              <a:solidFill>
                <a:srgbClr val="26262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34569C11-B3CB-4E2A-9CDB-E3ACF1B54C53}"/>
              </a:ext>
            </a:extLst>
          </p:cNvPr>
          <p:cNvSpPr>
            <a:spLocks noGrp="1"/>
          </p:cNvSpPr>
          <p:nvPr/>
        </p:nvSpPr>
        <p:spPr>
          <a:xfrm>
            <a:off x="6492078" y="1123950"/>
            <a:ext cx="965702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배포·검증</a:t>
            </a:r>
            <a:endParaRPr sz="1000" b="1" i="0" u="none" cap="none">
              <a:solidFill>
                <a:srgbClr val="26262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F1C4069F-5CB6-4C4C-AD48-3E6C0686D4EA}"/>
              </a:ext>
            </a:extLst>
          </p:cNvPr>
          <p:cNvSpPr>
            <a:spLocks noGrp="1"/>
          </p:cNvSpPr>
          <p:nvPr/>
        </p:nvSpPr>
        <p:spPr>
          <a:xfrm>
            <a:off x="3059832" y="1676731"/>
            <a:ext cx="1453706" cy="432048"/>
          </a:xfrm>
          <a:prstGeom prst="rect">
            <a:avLst/>
          </a:prstGeom>
          <a:solidFill>
            <a:srgbClr val="E0E7F2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>
            <a:noAutofit/>
          </a:bodyPr>
          <a:lstStyle/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표본·평가 기준</a:t>
            </a:r>
            <a:endParaRPr/>
          </a:p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XGBoost 초기 학습
기준 모델 비교</a:t>
            </a:r>
            <a:endParaRPr/>
          </a:p>
        </p:txBody>
      </p:sp>
      <p:sp>
        <p:nvSpPr>
          <p:cNvPr id="107" name="Google Shape;107;p2">
            <a:extLst>
              <a:ext uri="{FF2B5EF4-FFF2-40B4-BE49-F238E27FC236}">
                <a16:creationId xmlns:a16="http://schemas.microsoft.com/office/drawing/2014/main" id="{6600FA5A-4205-4C0C-A43C-E01D6CB90214}"/>
              </a:ext>
            </a:extLst>
          </p:cNvPr>
          <p:cNvSpPr>
            <a:spLocks noGrp="1"/>
          </p:cNvSpPr>
          <p:nvPr/>
        </p:nvSpPr>
        <p:spPr>
          <a:xfrm>
            <a:off x="4538136" y="1678423"/>
            <a:ext cx="959166" cy="432048"/>
          </a:xfrm>
          <a:prstGeom prst="rect">
            <a:avLst/>
          </a:prstGeom>
          <a:solidFill>
            <a:srgbClr val="E0E7F2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>
            <a:noAutofit/>
          </a:bodyPr>
          <a:lstStyle/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품질·인력 점검</a:t>
            </a:r>
            <a:endParaRPr/>
          </a:p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평가 계획 보완</a:t>
            </a:r>
            <a:endParaRPr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B0F62035-AB7B-424B-AFC5-BDB0089CFAE3}"/>
              </a:ext>
            </a:extLst>
          </p:cNvPr>
          <p:cNvSpPr>
            <a:spLocks noGrp="1"/>
          </p:cNvSpPr>
          <p:nvPr/>
        </p:nvSpPr>
        <p:spPr>
          <a:xfrm>
            <a:off x="5521651" y="1687335"/>
            <a:ext cx="959166" cy="432048"/>
          </a:xfrm>
          <a:prstGeom prst="rect">
            <a:avLst/>
          </a:prstGeom>
          <a:solidFill>
            <a:srgbClr val="E0E7F2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>
            <a:noAutofit/>
          </a:bodyPr>
          <a:lstStyle/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예측 절차 고정</a:t>
            </a:r>
            <a:endParaRPr/>
          </a:p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평가 예측 비노출</a:t>
            </a:r>
            <a:endParaRPr/>
          </a:p>
        </p:txBody>
      </p:sp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BF10FE0A-D0D9-41A2-8EFB-473376E0DD23}"/>
              </a:ext>
            </a:extLst>
          </p:cNvPr>
          <p:cNvSpPr>
            <a:spLocks noGrp="1"/>
          </p:cNvSpPr>
          <p:nvPr/>
        </p:nvSpPr>
        <p:spPr>
          <a:xfrm>
            <a:off x="6502671" y="1689706"/>
            <a:ext cx="972712" cy="432048"/>
          </a:xfrm>
          <a:prstGeom prst="rect">
            <a:avLst/>
          </a:prstGeom>
          <a:solidFill>
            <a:srgbClr val="E0E7F2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>
            <a:noAutofit/>
          </a:bodyPr>
          <a:lstStyle/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독립 성능 평가</a:t>
            </a:r>
            <a:endParaRPr/>
          </a:p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학생 10명 이상</a:t>
            </a:r>
            <a:endParaRPr/>
          </a:p>
        </p:txBody>
      </p:sp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EC4177F8-7327-4956-8C30-331780D7561A}"/>
              </a:ext>
            </a:extLst>
          </p:cNvPr>
          <p:cNvSpPr>
            <a:spLocks noGrp="1"/>
          </p:cNvSpPr>
          <p:nvPr/>
        </p:nvSpPr>
        <p:spPr>
          <a:xfrm>
            <a:off x="2066351" y="1671650"/>
            <a:ext cx="959166" cy="432048"/>
          </a:xfrm>
          <a:prstGeom prst="rect">
            <a:avLst/>
          </a:prstGeom>
          <a:solidFill>
            <a:srgbClr val="E0E7F2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>
            <a:noAutofit/>
          </a:bodyPr>
          <a:lstStyle/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정답·제외 규칙</a:t>
            </a:r>
            <a:endParaRPr/>
          </a:p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OSS 후보 3종</a:t>
            </a:r>
            <a:endParaRPr/>
          </a:p>
        </p:txBody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10CF6B9-872B-4045-B3B1-B893439556F4}"/>
              </a:ext>
            </a:extLst>
          </p:cNvPr>
          <p:cNvSpPr>
            <a:spLocks noGrp="1"/>
          </p:cNvSpPr>
          <p:nvPr/>
        </p:nvSpPr>
        <p:spPr>
          <a:xfrm>
            <a:off x="7476830" y="1123950"/>
            <a:ext cx="965702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개선·제출</a:t>
            </a:r>
            <a:endParaRPr sz="1000" b="1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2" name="Google Shape;112;p2">
            <a:extLst>
              <a:ext uri="{FF2B5EF4-FFF2-40B4-BE49-F238E27FC236}">
                <a16:creationId xmlns:a16="http://schemas.microsoft.com/office/drawing/2014/main" id="{4B20C000-FC3A-42CA-B44B-32833B52F456}"/>
              </a:ext>
            </a:extLst>
          </p:cNvPr>
          <p:cNvSpPr>
            <a:spLocks noGrp="1"/>
          </p:cNvSpPr>
          <p:nvPr/>
        </p:nvSpPr>
        <p:spPr>
          <a:xfrm>
            <a:off x="1075944" y="1123950"/>
            <a:ext cx="965702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착수·조사</a:t>
            </a:r>
            <a:endParaRPr sz="1000" b="1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3661CBF6-39EF-4B6D-A198-DA92D1B3AFBA}"/>
              </a:ext>
            </a:extLst>
          </p:cNvPr>
          <p:cNvSpPr>
            <a:spLocks noGrp="1"/>
          </p:cNvSpPr>
          <p:nvPr/>
        </p:nvSpPr>
        <p:spPr>
          <a:xfrm>
            <a:off x="6878217" y="1504950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공개 판단</a:t>
            </a:r>
            <a:endParaRPr/>
          </a:p>
        </p:txBody>
      </p:sp>
      <p:sp>
        <p:nvSpPr>
          <p:cNvPr id="114" name="Google Shape;114;p2">
            <a:extLst>
              <a:ext uri="{FF2B5EF4-FFF2-40B4-BE49-F238E27FC236}">
                <a16:creationId xmlns:a16="http://schemas.microsoft.com/office/drawing/2014/main" id="{7C1D516B-C998-4E91-907E-D84718C0E056}"/>
              </a:ext>
            </a:extLst>
          </p:cNvPr>
          <p:cNvSpPr>
            <a:spLocks noGrp="1"/>
          </p:cNvSpPr>
          <p:nvPr/>
        </p:nvSpPr>
        <p:spPr>
          <a:xfrm rot="2700000">
            <a:off x="1293557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18971E01-AF24-4A53-A670-7857F24ABF19}"/>
              </a:ext>
            </a:extLst>
          </p:cNvPr>
          <p:cNvSpPr>
            <a:spLocks noGrp="1"/>
          </p:cNvSpPr>
          <p:nvPr/>
        </p:nvSpPr>
        <p:spPr>
          <a:xfrm>
            <a:off x="969707" y="1504950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착수</a:t>
            </a:r>
            <a:endParaRPr/>
          </a:p>
        </p:txBody>
      </p:sp>
      <p:sp>
        <p:nvSpPr>
          <p:cNvPr id="116" name="Google Shape;116;p2">
            <a:extLst>
              <a:ext uri="{FF2B5EF4-FFF2-40B4-BE49-F238E27FC236}">
                <a16:creationId xmlns:a16="http://schemas.microsoft.com/office/drawing/2014/main" id="{45CB5216-A31D-40DD-8DE0-4929925153B7}"/>
              </a:ext>
            </a:extLst>
          </p:cNvPr>
          <p:cNvSpPr>
            <a:spLocks noGrp="1"/>
          </p:cNvSpPr>
          <p:nvPr/>
        </p:nvSpPr>
        <p:spPr>
          <a:xfrm rot="2700000">
            <a:off x="3263060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5D41DD2-148B-40E4-8162-C72693F6DD2E}"/>
              </a:ext>
            </a:extLst>
          </p:cNvPr>
          <p:cNvSpPr>
            <a:spLocks noGrp="1"/>
          </p:cNvSpPr>
          <p:nvPr/>
        </p:nvSpPr>
        <p:spPr>
          <a:xfrm>
            <a:off x="5401089" y="1504950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모델 고정</a:t>
            </a:r>
            <a:endParaRPr sz="900" b="1" i="0" u="none" cap="none">
              <a:solidFill>
                <a:srgbClr val="C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8" name="Google Shape;118;p2">
            <a:extLst>
              <a:ext uri="{FF2B5EF4-FFF2-40B4-BE49-F238E27FC236}">
                <a16:creationId xmlns:a16="http://schemas.microsoft.com/office/drawing/2014/main" id="{EB1FCB7B-0E35-4C75-BA75-4BFE0011BEA2}"/>
              </a:ext>
            </a:extLst>
          </p:cNvPr>
          <p:cNvSpPr>
            <a:spLocks noGrp="1"/>
          </p:cNvSpPr>
          <p:nvPr/>
        </p:nvSpPr>
        <p:spPr>
          <a:xfrm rot="2700000">
            <a:off x="4740188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Google Shape;119;p2">
            <a:extLst>
              <a:ext uri="{FF2B5EF4-FFF2-40B4-BE49-F238E27FC236}">
                <a16:creationId xmlns:a16="http://schemas.microsoft.com/office/drawing/2014/main" id="{3A6E51C3-15FF-4D91-86DD-98868511F9F5}"/>
              </a:ext>
            </a:extLst>
          </p:cNvPr>
          <p:cNvSpPr>
            <a:spLocks noGrp="1"/>
          </p:cNvSpPr>
          <p:nvPr/>
        </p:nvSpPr>
        <p:spPr>
          <a:xfrm>
            <a:off x="2939210" y="1504950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기획 확정</a:t>
            </a:r>
            <a:endParaRPr/>
          </a:p>
        </p:txBody>
      </p:sp>
      <p:sp>
        <p:nvSpPr>
          <p:cNvPr id="120" name="Google Shape;120;p2">
            <a:extLst>
              <a:ext uri="{FF2B5EF4-FFF2-40B4-BE49-F238E27FC236}">
                <a16:creationId xmlns:a16="http://schemas.microsoft.com/office/drawing/2014/main" id="{4AFA91B7-5BB4-4C45-ADDF-D2A3043C0C6C}"/>
              </a:ext>
            </a:extLst>
          </p:cNvPr>
          <p:cNvSpPr>
            <a:spLocks noGrp="1"/>
          </p:cNvSpPr>
          <p:nvPr/>
        </p:nvSpPr>
        <p:spPr>
          <a:xfrm rot="2700000">
            <a:off x="5724939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Google Shape;121;p2">
            <a:extLst>
              <a:ext uri="{FF2B5EF4-FFF2-40B4-BE49-F238E27FC236}">
                <a16:creationId xmlns:a16="http://schemas.microsoft.com/office/drawing/2014/main" id="{02008748-7255-4AB1-868A-10524AB8BF95}"/>
              </a:ext>
            </a:extLst>
          </p:cNvPr>
          <p:cNvSpPr>
            <a:spLocks noGrp="1"/>
          </p:cNvSpPr>
          <p:nvPr/>
        </p:nvSpPr>
        <p:spPr>
          <a:xfrm>
            <a:off x="4416338" y="1504950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중간평가</a:t>
            </a:r>
            <a:endParaRPr/>
          </a:p>
        </p:txBody>
      </p:sp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0EDCFD51-BDFB-4B3F-8892-3126DD24F435}"/>
              </a:ext>
            </a:extLst>
          </p:cNvPr>
          <p:cNvSpPr>
            <a:spLocks noGrp="1"/>
          </p:cNvSpPr>
          <p:nvPr/>
        </p:nvSpPr>
        <p:spPr>
          <a:xfrm rot="2700000">
            <a:off x="7202067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C292C720-6D78-4540-B6CF-2F951891C30D}"/>
              </a:ext>
            </a:extLst>
          </p:cNvPr>
          <p:cNvSpPr>
            <a:spLocks noGrp="1"/>
          </p:cNvSpPr>
          <p:nvPr/>
        </p:nvSpPr>
        <p:spPr>
          <a:xfrm>
            <a:off x="7862968" y="1504950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최종 제출</a:t>
            </a:r>
            <a:endParaRPr/>
          </a:p>
        </p:txBody>
      </p:sp>
      <p:sp>
        <p:nvSpPr>
          <p:cNvPr id="124" name="Google Shape;124;p2">
            <a:extLst>
              <a:ext uri="{FF2B5EF4-FFF2-40B4-BE49-F238E27FC236}">
                <a16:creationId xmlns:a16="http://schemas.microsoft.com/office/drawing/2014/main" id="{DEB3E7C5-B004-40B0-8F8D-AE5E3FDC12EC}"/>
              </a:ext>
            </a:extLst>
          </p:cNvPr>
          <p:cNvSpPr>
            <a:spLocks noGrp="1"/>
          </p:cNvSpPr>
          <p:nvPr/>
        </p:nvSpPr>
        <p:spPr>
          <a:xfrm rot="2700000">
            <a:off x="8186818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313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48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53F95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사용자 지정 4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사용자 지정 48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53F95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사용자 지정 4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</Words>
  <Application>Microsoft Office PowerPoint</Application>
  <DocSecurity>0</DocSecurity>
  <PresentationFormat>화면 슬라이드 쇼(16:9)</PresentationFormat>
  <Paragraphs>250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Noto Sans Symbols</vt:lpstr>
      <vt:lpstr>Malgun Gothic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HwangJeongwon</cp:lastModifiedBy>
  <cp:revision>1</cp:revision>
  <dcterms:created xsi:type="dcterms:W3CDTF">2026-09-21T06:48:29Z</dcterms:created>
  <dcterms:modified xsi:type="dcterms:W3CDTF">2026-09-21T12:54:36Z</dcterms:modified>
</cp:coreProperties>
</file>